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90" r:id="rId3"/>
    <p:sldId id="467" r:id="rId4"/>
    <p:sldId id="468" r:id="rId5"/>
    <p:sldId id="469" r:id="rId6"/>
    <p:sldId id="470" r:id="rId7"/>
    <p:sldId id="471" r:id="rId8"/>
    <p:sldId id="473" r:id="rId9"/>
    <p:sldId id="476" r:id="rId10"/>
    <p:sldId id="478" r:id="rId11"/>
    <p:sldId id="477" r:id="rId12"/>
    <p:sldId id="479" r:id="rId13"/>
    <p:sldId id="472" r:id="rId14"/>
    <p:sldId id="474" r:id="rId15"/>
    <p:sldId id="475" r:id="rId16"/>
    <p:sldId id="452" r:id="rId17"/>
    <p:sldId id="453" r:id="rId18"/>
    <p:sldId id="454" r:id="rId19"/>
    <p:sldId id="458" r:id="rId20"/>
    <p:sldId id="457" r:id="rId21"/>
    <p:sldId id="459" r:id="rId22"/>
    <p:sldId id="460" r:id="rId23"/>
    <p:sldId id="461" r:id="rId24"/>
    <p:sldId id="462" r:id="rId25"/>
    <p:sldId id="463" r:id="rId26"/>
    <p:sldId id="464" r:id="rId27"/>
    <p:sldId id="465" r:id="rId28"/>
    <p:sldId id="466" r:id="rId29"/>
    <p:sldId id="456" r:id="rId30"/>
    <p:sldId id="29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E9FB"/>
    <a:srgbClr val="5E4700"/>
    <a:srgbClr val="4F3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8640"/>
    <p:restoredTop sz="95712"/>
  </p:normalViewPr>
  <p:slideViewPr>
    <p:cSldViewPr snapToGrid="0">
      <p:cViewPr varScale="1">
        <p:scale>
          <a:sx n="78" d="100"/>
          <a:sy n="78" d="100"/>
        </p:scale>
        <p:origin x="192" y="10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E17AF-CEF3-7BE8-969F-0103BF394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76D6CF-995A-B645-9C9D-A51F2AE203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A2D07-325F-4067-BC93-D0D9B27E8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1069-29FF-2641-BF55-6D3D376B12DA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1DF06-8594-5DE1-AA3D-A1DC8678A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8E48A-23EA-AC3A-AC82-0428FFE4A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91FE-98D6-ED45-BE90-F543CBFB3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783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2A8B1-B1EB-B2B8-6BC5-2D91943B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4BCBC-B124-60A4-7C79-ADFC22E11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751A5-ED59-6561-1A25-F39FF54C2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1069-29FF-2641-BF55-6D3D376B12DA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1B940-412F-713D-D8D6-FF25D9F63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CE6C3-A30E-F1D6-A194-608679AE9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91FE-98D6-ED45-BE90-F543CBFB3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16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4DAA6-4B17-ADD8-75D0-99FE73AF9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47FC6-8EEE-780A-CDF5-A73168405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81F77-691C-37F3-D45D-D47A2AE29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1069-29FF-2641-BF55-6D3D376B12DA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B1320-CB55-CA17-BF9B-08E1F6A83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C3CEE-F8C1-D43A-2BDA-CC022A47E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91FE-98D6-ED45-BE90-F543CBFB3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6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233CB-0386-804B-9620-EE9986CA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0AE71-859F-D3EC-8077-AA9C1012A6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14F0E-2A15-6CE2-3F29-4F57B16060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2EBFB-7950-9F96-A6F9-3FB92EC2C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1069-29FF-2641-BF55-6D3D376B12DA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53189-1C7F-97CC-5E5F-47D258B06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234DDA-ADF7-B4B5-8325-F9CA9051E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91FE-98D6-ED45-BE90-F543CBFB3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05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CB5D8-2FBD-8E9D-8352-E1896C121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79C99-0A03-39E9-AA1A-78E55B91F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7B117-0300-DF31-C082-5F3242C6D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5E4F55-34F8-BF6C-7469-FE40B84A13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126A0E-8B6F-EEAD-9294-CD7E6F95B7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43A62E-1B65-245E-B02B-CF3EDC872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1069-29FF-2641-BF55-6D3D376B12DA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98DFEB-1E0B-4FAC-EB0F-90E0DDF2F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0DF053-7E40-EB6B-7EF4-4DF925BFA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91FE-98D6-ED45-BE90-F543CBFB3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934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ADA6E-B2D6-EFB6-D0EB-05AD00DE4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4BFEEB-6B6D-F129-F056-9A8F911CE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1069-29FF-2641-BF55-6D3D376B12DA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039B7D-3C16-D324-136F-9CB90AB8F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511F78-8033-986B-482E-E0058EA5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91FE-98D6-ED45-BE90-F543CBFB3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29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495EBA-9730-8989-0ED5-C1BBBCE9F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1069-29FF-2641-BF55-6D3D376B12DA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04690B-B85F-EE31-0CE3-55D5E41AC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0B0BC-CFE2-A82E-4D1C-C8DD9B866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91FE-98D6-ED45-BE90-F543CBFB3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590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B844D-2730-96E4-7113-389C61811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7364F-4E57-00A4-755C-0707CBEAC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FC1C2-FE84-5C4B-DC81-8ABB467DB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8A18FE-960B-8830-8233-42214056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1069-29FF-2641-BF55-6D3D376B12DA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DB932-D1A5-282E-4DDD-FCECC0445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B7F8F-1D16-1DDE-5D5C-B6366DF21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91FE-98D6-ED45-BE90-F543CBFB3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394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3AA47-BF5D-001F-D18A-1FF69A0E8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3C05FF-9FD6-FCBD-46CF-6197E5C70A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191C2-6113-D2F2-1FE1-179CC0067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FC1FA-A2EF-64AC-7DA8-9C1B73D5A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1069-29FF-2641-BF55-6D3D376B12DA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B45E49-8208-E9F2-0C9D-954CBCA57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D69B1-91A6-9CEA-CC89-84D2E6047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91FE-98D6-ED45-BE90-F543CBFB3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183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4F667-284A-D326-2D10-37DAD0D99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C1C57D-2618-181B-58F0-491A92C7A2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CDA40-663B-BA3B-3CD2-68336758E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1069-29FF-2641-BF55-6D3D376B12DA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D2D6E-AF68-1AED-CF79-D4D2BD300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D85AA-AC89-9FC2-EC23-25CE8B252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91FE-98D6-ED45-BE90-F543CBFB3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744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2BF371-EFF5-92FB-4EC7-B21D52E1AA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F6053D-8149-A9B9-B092-014A9626F7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6246B-F23F-16CA-DB51-100A19A8B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1069-29FF-2641-BF55-6D3D376B12DA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CC807-5CE7-2EA4-8437-2DEE3BD6B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65395-6A1B-A2A5-F349-A3DAF6BC2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91FE-98D6-ED45-BE90-F543CBFB3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506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2C55A6-D94F-9199-C2A1-B36FB6F98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1142D-4C2C-1408-D61B-61B516E7E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19628-1519-4275-8B54-9A1E1AF5E4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CC1069-29FF-2641-BF55-6D3D376B12DA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C1AFE-B3CC-DC6A-2FF5-D9D836B271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B1A51-E274-615F-396D-FDD4AF377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1D91FE-98D6-ED45-BE90-F543CBFB3C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278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3.jpg"/><Relationship Id="rId7" Type="http://schemas.openxmlformats.org/officeDocument/2006/relationships/image" Target="../media/image17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hyperlink" Target="https://www.kaggle.com/datasets/mlg-ulb/creditcardfraud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jpg"/><Relationship Id="rId4" Type="http://schemas.openxmlformats.org/officeDocument/2006/relationships/image" Target="../media/image39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7" Type="http://schemas.openxmlformats.org/officeDocument/2006/relationships/image" Target="../media/image42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jpg"/><Relationship Id="rId5" Type="http://schemas.openxmlformats.org/officeDocument/2006/relationships/image" Target="../media/image49.jpg"/><Relationship Id="rId4" Type="http://schemas.openxmlformats.org/officeDocument/2006/relationships/image" Target="../media/image43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g"/><Relationship Id="rId4" Type="http://schemas.openxmlformats.org/officeDocument/2006/relationships/image" Target="../media/image47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7" Type="http://schemas.openxmlformats.org/officeDocument/2006/relationships/image" Target="../media/image55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jpg"/><Relationship Id="rId5" Type="http://schemas.openxmlformats.org/officeDocument/2006/relationships/image" Target="../media/image53.jpg"/><Relationship Id="rId4" Type="http://schemas.openxmlformats.org/officeDocument/2006/relationships/image" Target="../media/image41.jp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mailto:nmimoto@uakron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1FB15-E453-5AD0-F156-6C44B3F24D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 fontScale="90000"/>
          </a:bodyPr>
          <a:lstStyle/>
          <a:p>
            <a:r>
              <a:rPr lang="en-US" sz="3600" dirty="0"/>
              <a:t>Fall26 - Intro to Machine Learning</a:t>
            </a:r>
            <a:br>
              <a:rPr lang="en-US" sz="4000" dirty="0"/>
            </a:br>
            <a:br>
              <a:rPr lang="en-US" dirty="0"/>
            </a:br>
            <a:r>
              <a:rPr lang="en-US" dirty="0"/>
              <a:t>(W5) Ch4-Lab </a:t>
            </a:r>
            <a:br>
              <a:rPr lang="en-US" dirty="0"/>
            </a:br>
            <a:r>
              <a:rPr lang="en-US" sz="2700" dirty="0"/>
              <a:t>Logistic Regression, SMOTE, and AI</a:t>
            </a:r>
          </a:p>
        </p:txBody>
      </p:sp>
    </p:spTree>
    <p:extLst>
      <p:ext uri="{BB962C8B-B14F-4D97-AF65-F5344CB8AC3E}">
        <p14:creationId xmlns:p14="http://schemas.microsoft.com/office/powerpoint/2010/main" val="751283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20F00-3451-4706-444F-559EDB5BC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2BAD334-A4B1-E9AB-EC6A-A63ACF6B5F1B}"/>
              </a:ext>
            </a:extLst>
          </p:cNvPr>
          <p:cNvSpPr txBox="1">
            <a:spLocks/>
          </p:cNvSpPr>
          <p:nvPr/>
        </p:nvSpPr>
        <p:spPr>
          <a:xfrm>
            <a:off x="788364" y="274175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(+) Review on Default data</a:t>
            </a:r>
          </a:p>
          <a:p>
            <a:r>
              <a:rPr lang="en-US" sz="2000" dirty="0"/>
              <a:t>Ch4-LabA1</a:t>
            </a:r>
          </a:p>
          <a:p>
            <a:r>
              <a:rPr lang="en-US" sz="2000" dirty="0"/>
              <a:t>Ch4-LabA2</a:t>
            </a:r>
          </a:p>
          <a:p>
            <a:r>
              <a:rPr lang="en-US" sz="2000" dirty="0"/>
              <a:t>1. Load Data from ISLR </a:t>
            </a:r>
            <a:r>
              <a:rPr lang="en-US" sz="2000" dirty="0" err="1"/>
              <a:t>pakage</a:t>
            </a:r>
            <a:endParaRPr lang="en-US" sz="2000" dirty="0"/>
          </a:p>
          <a:p>
            <a:r>
              <a:rPr lang="en-US" sz="2000" dirty="0"/>
              <a:t>2. Data Separation (Seed needed – Why? )</a:t>
            </a:r>
          </a:p>
          <a:p>
            <a:r>
              <a:rPr lang="en-US" sz="2000" dirty="0"/>
              <a:t>3. Logistic Regression on Training set – just as an example</a:t>
            </a:r>
          </a:p>
          <a:p>
            <a:r>
              <a:rPr lang="en-US" sz="2000" dirty="0"/>
              <a:t>4. Search for best model using CV</a:t>
            </a:r>
          </a:p>
          <a:p>
            <a:r>
              <a:rPr lang="en-US" sz="2000" dirty="0"/>
              <a:t>5. Final Fit on Training Set</a:t>
            </a:r>
          </a:p>
          <a:p>
            <a:r>
              <a:rPr lang="en-US" sz="2000" dirty="0"/>
              <a:t>6. Determine the Best Threshold (give cost function)</a:t>
            </a:r>
          </a:p>
        </p:txBody>
      </p:sp>
    </p:spTree>
    <p:extLst>
      <p:ext uri="{BB962C8B-B14F-4D97-AF65-F5344CB8AC3E}">
        <p14:creationId xmlns:p14="http://schemas.microsoft.com/office/powerpoint/2010/main" val="1756120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23BBE-9746-4F11-D1FE-5F037ADE6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EBCD58-29C4-8760-EF66-5EC785AC2729}"/>
              </a:ext>
            </a:extLst>
          </p:cNvPr>
          <p:cNvSpPr txBox="1">
            <a:spLocks/>
          </p:cNvSpPr>
          <p:nvPr/>
        </p:nvSpPr>
        <p:spPr>
          <a:xfrm>
            <a:off x="788364" y="274175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Compare two models</a:t>
            </a:r>
          </a:p>
          <a:p>
            <a:r>
              <a:rPr lang="en-US" sz="2000" dirty="0"/>
              <a:t>Resp = default</a:t>
            </a:r>
          </a:p>
          <a:p>
            <a:r>
              <a:rPr lang="en-US" sz="2000" dirty="0"/>
              <a:t>Model (1) resp ~ balance </a:t>
            </a:r>
          </a:p>
          <a:p>
            <a:r>
              <a:rPr lang="en-US" sz="2000" dirty="0"/>
              <a:t>Model (2) resp ~ balance + student</a:t>
            </a:r>
          </a:p>
          <a:p>
            <a:r>
              <a:rPr lang="en-US" sz="2000" dirty="0"/>
              <a:t>How and What number do we compare? </a:t>
            </a:r>
          </a:p>
        </p:txBody>
      </p:sp>
    </p:spTree>
    <p:extLst>
      <p:ext uri="{BB962C8B-B14F-4D97-AF65-F5344CB8AC3E}">
        <p14:creationId xmlns:p14="http://schemas.microsoft.com/office/powerpoint/2010/main" val="1964120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BE52F-E916-7E5F-A0E1-03AF88C56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E8AE258-2240-521B-EA20-C930F5E4806F}"/>
              </a:ext>
            </a:extLst>
          </p:cNvPr>
          <p:cNvSpPr txBox="1">
            <a:spLocks/>
          </p:cNvSpPr>
          <p:nvPr/>
        </p:nvSpPr>
        <p:spPr>
          <a:xfrm>
            <a:off x="788364" y="274175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1ECB47-DB49-7258-4C91-1D5B0DA0A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22" y="434521"/>
            <a:ext cx="6633936" cy="473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77D0E7-3541-5CF4-7A00-423D9EE60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742" y="3428999"/>
            <a:ext cx="6506936" cy="284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771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7403-9D65-927B-E6E8-BB571B690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871082-02D5-4325-49D4-704530C7413F}"/>
              </a:ext>
            </a:extLst>
          </p:cNvPr>
          <p:cNvSpPr txBox="1">
            <a:spLocks/>
          </p:cNvSpPr>
          <p:nvPr/>
        </p:nvSpPr>
        <p:spPr>
          <a:xfrm>
            <a:off x="788364" y="274175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A429B6-C9DF-44E7-F704-E63136D5C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" y="1778721"/>
            <a:ext cx="4305300" cy="1790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01F06E-17EE-4835-C6F4-CA5B6A02E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078" y="274175"/>
            <a:ext cx="7772400" cy="52716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6D9654C-263C-422D-F066-66E3A7164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79" y="5779063"/>
            <a:ext cx="4965700" cy="571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C23CC8-C8FD-95C4-F67D-43D1688607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0421" y="4340585"/>
            <a:ext cx="4305300" cy="1841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E2E24F6-8B60-16CE-DB51-B5DC34FA5C57}"/>
              </a:ext>
            </a:extLst>
          </p:cNvPr>
          <p:cNvSpPr txBox="1"/>
          <p:nvPr/>
        </p:nvSpPr>
        <p:spPr>
          <a:xfrm>
            <a:off x="5277619" y="980262"/>
            <a:ext cx="952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BEC31E-D9B7-0536-1297-166F76D50415}"/>
              </a:ext>
            </a:extLst>
          </p:cNvPr>
          <p:cNvSpPr txBox="1"/>
          <p:nvPr/>
        </p:nvSpPr>
        <p:spPr>
          <a:xfrm>
            <a:off x="9372600" y="925364"/>
            <a:ext cx="584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35DA110-F255-AA87-7D7E-A3FDAA264B57}"/>
              </a:ext>
            </a:extLst>
          </p:cNvPr>
          <p:cNvCxnSpPr/>
          <p:nvPr/>
        </p:nvCxnSpPr>
        <p:spPr>
          <a:xfrm flipV="1">
            <a:off x="1469571" y="3722914"/>
            <a:ext cx="130629" cy="1822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1DC8774-D22A-3650-C5FE-B0A944D23524}"/>
              </a:ext>
            </a:extLst>
          </p:cNvPr>
          <p:cNvCxnSpPr>
            <a:cxnSpLocks/>
          </p:cNvCxnSpPr>
          <p:nvPr/>
        </p:nvCxnSpPr>
        <p:spPr>
          <a:xfrm flipV="1">
            <a:off x="5477329" y="6001064"/>
            <a:ext cx="1728107" cy="1424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585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C5A5-0AC3-F528-0C49-15D1D3694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C942437-61A8-753B-B91F-575AF64D4B42}"/>
              </a:ext>
            </a:extLst>
          </p:cNvPr>
          <p:cNvSpPr txBox="1">
            <a:spLocks/>
          </p:cNvSpPr>
          <p:nvPr/>
        </p:nvSpPr>
        <p:spPr>
          <a:xfrm>
            <a:off x="788364" y="274175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C8B4E8-D57F-B40B-6FD3-7D695A54F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664" y="2732279"/>
            <a:ext cx="7772400" cy="38515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FF098C-5771-9AB8-0316-C6BBC6D25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64" y="330614"/>
            <a:ext cx="7772400" cy="309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456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A3F88-3E5A-7F20-BBF7-B28045411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372BE1-037F-A953-5ED1-47F02FC47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9400" y="262923"/>
            <a:ext cx="7772400" cy="528287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883AA43-66E7-399C-F931-4518A339A110}"/>
              </a:ext>
            </a:extLst>
          </p:cNvPr>
          <p:cNvSpPr txBox="1">
            <a:spLocks/>
          </p:cNvSpPr>
          <p:nvPr/>
        </p:nvSpPr>
        <p:spPr>
          <a:xfrm>
            <a:off x="788364" y="274175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0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863586-A8D3-FAFE-AA23-FE183BC84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79" y="5779063"/>
            <a:ext cx="4965700" cy="571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FE6AF19-3D32-4862-9C0E-0BB607CCBE7F}"/>
              </a:ext>
            </a:extLst>
          </p:cNvPr>
          <p:cNvSpPr txBox="1"/>
          <p:nvPr/>
        </p:nvSpPr>
        <p:spPr>
          <a:xfrm>
            <a:off x="5277619" y="980262"/>
            <a:ext cx="952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E8D4D9-3260-A1A4-5178-E100B6EA6F65}"/>
              </a:ext>
            </a:extLst>
          </p:cNvPr>
          <p:cNvSpPr txBox="1"/>
          <p:nvPr/>
        </p:nvSpPr>
        <p:spPr>
          <a:xfrm>
            <a:off x="9372600" y="925364"/>
            <a:ext cx="584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B783125-33F0-8563-B722-818B26D0E2FD}"/>
              </a:ext>
            </a:extLst>
          </p:cNvPr>
          <p:cNvCxnSpPr/>
          <p:nvPr/>
        </p:nvCxnSpPr>
        <p:spPr>
          <a:xfrm flipV="1">
            <a:off x="1469571" y="3722914"/>
            <a:ext cx="130629" cy="1822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424FAD8-FEEC-56AA-7F0D-A38C85FD49BE}"/>
              </a:ext>
            </a:extLst>
          </p:cNvPr>
          <p:cNvCxnSpPr>
            <a:cxnSpLocks/>
          </p:cNvCxnSpPr>
          <p:nvPr/>
        </p:nvCxnSpPr>
        <p:spPr>
          <a:xfrm flipV="1">
            <a:off x="5477329" y="6001064"/>
            <a:ext cx="1728107" cy="1424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DAB64F2-678D-83BD-2E4E-70AAB6BD71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" y="1739899"/>
            <a:ext cx="3771900" cy="1689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BF038C-C568-90C9-DAD6-D198FAE41B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6370" y="4919483"/>
            <a:ext cx="379730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767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A761C-3EC6-F0B2-18DF-64290D400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E3C90B5-AB92-D579-6DF3-403451E117C2}"/>
              </a:ext>
            </a:extLst>
          </p:cNvPr>
          <p:cNvSpPr txBox="1">
            <a:spLocks/>
          </p:cNvSpPr>
          <p:nvPr/>
        </p:nvSpPr>
        <p:spPr>
          <a:xfrm>
            <a:off x="788364" y="274175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9AE625-430C-5677-669E-42631B56F381}"/>
              </a:ext>
            </a:extLst>
          </p:cNvPr>
          <p:cNvSpPr txBox="1"/>
          <p:nvPr/>
        </p:nvSpPr>
        <p:spPr>
          <a:xfrm>
            <a:off x="2300930" y="2112924"/>
            <a:ext cx="1510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Balance Only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B44577-68F2-6716-04EA-71DD0E082EC4}"/>
              </a:ext>
            </a:extLst>
          </p:cNvPr>
          <p:cNvSpPr txBox="1"/>
          <p:nvPr/>
        </p:nvSpPr>
        <p:spPr>
          <a:xfrm>
            <a:off x="981114" y="3688069"/>
            <a:ext cx="245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Balance + Student</a:t>
            </a:r>
          </a:p>
          <a:p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3FAC5F8-18F2-5CC0-CC07-79970CE1D2D2}"/>
              </a:ext>
            </a:extLst>
          </p:cNvPr>
          <p:cNvSpPr txBox="1">
            <a:spLocks/>
          </p:cNvSpPr>
          <p:nvPr/>
        </p:nvSpPr>
        <p:spPr>
          <a:xfrm>
            <a:off x="418250" y="534339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Compare </a:t>
            </a:r>
          </a:p>
          <a:p>
            <a:pPr marL="0" indent="0">
              <a:buNone/>
            </a:pPr>
            <a:r>
              <a:rPr lang="en-US" sz="4000" b="1" dirty="0"/>
              <a:t>Model Adequacy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C82741-6B5D-BF79-7DFB-E8D2778B37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192" y="274175"/>
            <a:ext cx="6633936" cy="47302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D910674-2094-BFF9-AD1B-EEE1F005B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1236" y="3041157"/>
            <a:ext cx="7772400" cy="309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941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D146F-C0A4-2999-5523-15D4AFCF9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FAFB94-BF89-90DC-FDEB-4CAF0C887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236" y="3041157"/>
            <a:ext cx="7772400" cy="309838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173C31F-9F02-3103-BFA6-E6ED707A4D0E}"/>
              </a:ext>
            </a:extLst>
          </p:cNvPr>
          <p:cNvSpPr txBox="1">
            <a:spLocks/>
          </p:cNvSpPr>
          <p:nvPr/>
        </p:nvSpPr>
        <p:spPr>
          <a:xfrm>
            <a:off x="788364" y="274175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D0EA52-9D5D-D393-3E40-0EF0FBC96CD2}"/>
              </a:ext>
            </a:extLst>
          </p:cNvPr>
          <p:cNvSpPr txBox="1"/>
          <p:nvPr/>
        </p:nvSpPr>
        <p:spPr>
          <a:xfrm>
            <a:off x="2367634" y="1557753"/>
            <a:ext cx="1510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Balance Only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29AAFD-888E-D96E-6669-744FD0D7A4D4}"/>
              </a:ext>
            </a:extLst>
          </p:cNvPr>
          <p:cNvSpPr txBox="1"/>
          <p:nvPr/>
        </p:nvSpPr>
        <p:spPr>
          <a:xfrm>
            <a:off x="981114" y="3688069"/>
            <a:ext cx="245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Balance + Student</a:t>
            </a:r>
          </a:p>
          <a:p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18A1A24-4F17-4E73-97F6-AF22E945C073}"/>
              </a:ext>
            </a:extLst>
          </p:cNvPr>
          <p:cNvSpPr txBox="1">
            <a:spLocks/>
          </p:cNvSpPr>
          <p:nvPr/>
        </p:nvSpPr>
        <p:spPr>
          <a:xfrm>
            <a:off x="418250" y="534339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Compare </a:t>
            </a:r>
          </a:p>
          <a:p>
            <a:pPr marL="0" indent="0">
              <a:buNone/>
            </a:pPr>
            <a:r>
              <a:rPr lang="en-US" sz="4000" b="1" dirty="0"/>
              <a:t>Model Adequacy</a:t>
            </a:r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Balance + Student is the better model at explaining who will default.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0F882E-5C95-4B96-8083-FA67EB313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192" y="274175"/>
            <a:ext cx="6633936" cy="47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881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05A04-B751-589C-75AF-875A9CC7C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DF83697B-4189-9601-19FE-97C6BC242F88}"/>
              </a:ext>
            </a:extLst>
          </p:cNvPr>
          <p:cNvSpPr txBox="1">
            <a:spLocks/>
          </p:cNvSpPr>
          <p:nvPr/>
        </p:nvSpPr>
        <p:spPr>
          <a:xfrm>
            <a:off x="418250" y="534339"/>
            <a:ext cx="9984650" cy="6049485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Logistic Function </a:t>
            </a:r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AF4D4F-F721-14D6-C7C0-5E4CD67F1B61}"/>
              </a:ext>
            </a:extLst>
          </p:cNvPr>
          <p:cNvSpPr txBox="1">
            <a:spLocks/>
          </p:cNvSpPr>
          <p:nvPr/>
        </p:nvSpPr>
        <p:spPr>
          <a:xfrm>
            <a:off x="788364" y="274175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F8432D-E91E-55FD-04F6-1C9308BB6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9236" y="211317"/>
            <a:ext cx="4144336" cy="13217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61C5A6-0CC4-003C-D21C-7BDF7EB21C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64" y="1664263"/>
            <a:ext cx="4533900" cy="749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A31EE0-A2E6-3E45-96BD-D8271C72D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364" y="3496035"/>
            <a:ext cx="4229100" cy="723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95C639-7318-5D3B-7E86-CEC952070F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4575" y="2509657"/>
            <a:ext cx="2908300" cy="7239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968C9B5-412F-3B58-38E3-E13B95BEEA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8275" y="4578507"/>
            <a:ext cx="3416300" cy="6731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436FACA-FD68-1D67-F0AF-005E1FC9A0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2721" y="3648325"/>
            <a:ext cx="3136900" cy="6731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A07F062-3356-3152-0566-4E1763154E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6387" y="4321425"/>
            <a:ext cx="3314700" cy="10287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33F07ED-4774-C581-796D-F366E48990E3}"/>
              </a:ext>
            </a:extLst>
          </p:cNvPr>
          <p:cNvSpPr txBox="1"/>
          <p:nvPr/>
        </p:nvSpPr>
        <p:spPr>
          <a:xfrm>
            <a:off x="9976757" y="3984875"/>
            <a:ext cx="1780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non-student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123040-85F2-D0A6-9742-429D764C864F}"/>
              </a:ext>
            </a:extLst>
          </p:cNvPr>
          <p:cNvSpPr txBox="1"/>
          <p:nvPr/>
        </p:nvSpPr>
        <p:spPr>
          <a:xfrm>
            <a:off x="9976757" y="4730391"/>
            <a:ext cx="1321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student</a:t>
            </a:r>
          </a:p>
        </p:txBody>
      </p:sp>
    </p:spTree>
    <p:extLst>
      <p:ext uri="{BB962C8B-B14F-4D97-AF65-F5344CB8AC3E}">
        <p14:creationId xmlns:p14="http://schemas.microsoft.com/office/powerpoint/2010/main" val="1716380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E0692-8C9C-2C69-391C-1194DF1D2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2C03946-0D1F-3483-4E76-22CA21733636}"/>
              </a:ext>
            </a:extLst>
          </p:cNvPr>
          <p:cNvSpPr txBox="1">
            <a:spLocks/>
          </p:cNvSpPr>
          <p:nvPr/>
        </p:nvSpPr>
        <p:spPr>
          <a:xfrm>
            <a:off x="418250" y="534339"/>
            <a:ext cx="9984650" cy="6049485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Balance + Student </a:t>
            </a:r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0D5D3CF-A44A-2279-E76E-1258EC1816CA}"/>
              </a:ext>
            </a:extLst>
          </p:cNvPr>
          <p:cNvSpPr txBox="1">
            <a:spLocks/>
          </p:cNvSpPr>
          <p:nvPr/>
        </p:nvSpPr>
        <p:spPr>
          <a:xfrm>
            <a:off x="788364" y="274175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5C9369-E095-3153-08DB-7B20CC6E9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664" y="2732279"/>
            <a:ext cx="7772400" cy="38515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649020-12CD-3BAC-F52B-B7BD10647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628" y="100897"/>
            <a:ext cx="5173436" cy="33281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3E3B8C-8B74-D5D9-F711-294993DD9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77950"/>
            <a:ext cx="6047192" cy="247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861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7AC69-96AE-BC7D-1161-B9D0C5CD9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1197C6E-1C24-587D-C6FA-0945E0E648D5}"/>
              </a:ext>
            </a:extLst>
          </p:cNvPr>
          <p:cNvSpPr txBox="1">
            <a:spLocks/>
          </p:cNvSpPr>
          <p:nvPr/>
        </p:nvSpPr>
        <p:spPr>
          <a:xfrm>
            <a:off x="418250" y="534339"/>
            <a:ext cx="9984650" cy="6049485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Balance + Student </a:t>
            </a:r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r>
              <a:rPr lang="en-US" sz="3000" b="1" dirty="0"/>
              <a:t>For same balance, being student brings the risk down.</a:t>
            </a:r>
          </a:p>
          <a:p>
            <a:pPr marL="0" indent="0">
              <a:buNone/>
            </a:pPr>
            <a:r>
              <a:rPr lang="en-US" sz="3000" b="1" dirty="0"/>
              <a:t> </a:t>
            </a:r>
          </a:p>
          <a:p>
            <a:pPr marL="0" indent="0">
              <a:buNone/>
            </a:pPr>
            <a:r>
              <a:rPr lang="en-US" sz="3000" b="1" dirty="0"/>
              <a:t>Without knowing the balance, being a student is higher risk, because students tend to have higher balance.  </a:t>
            </a:r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D80FB56-FA62-1967-9EEE-A2D276CB6236}"/>
              </a:ext>
            </a:extLst>
          </p:cNvPr>
          <p:cNvSpPr txBox="1">
            <a:spLocks/>
          </p:cNvSpPr>
          <p:nvPr/>
        </p:nvSpPr>
        <p:spPr>
          <a:xfrm>
            <a:off x="788364" y="274175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1119B2-4EBD-EAD1-9233-819F72AB9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7658" y="274175"/>
            <a:ext cx="4046092" cy="2602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0E53C42-6049-B6B1-7141-BC861CD97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120" y="1501461"/>
            <a:ext cx="4708445" cy="19275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CC2DE4-23FE-79FA-EF17-11B0D7307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288" y="2322093"/>
            <a:ext cx="4467462" cy="2213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3536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74793-8D8A-1D4A-2364-425EE7C6E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C138DC4-157F-6443-B827-2FFCB97A150C}"/>
              </a:ext>
            </a:extLst>
          </p:cNvPr>
          <p:cNvSpPr txBox="1">
            <a:spLocks/>
          </p:cNvSpPr>
          <p:nvPr/>
        </p:nvSpPr>
        <p:spPr>
          <a:xfrm>
            <a:off x="788364" y="274175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DFE56B-C20F-8440-482D-772BD75E0AF8}"/>
              </a:ext>
            </a:extLst>
          </p:cNvPr>
          <p:cNvSpPr txBox="1"/>
          <p:nvPr/>
        </p:nvSpPr>
        <p:spPr>
          <a:xfrm>
            <a:off x="4604037" y="556032"/>
            <a:ext cx="952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A1410A-E664-95C3-6444-A9C165EA5F79}"/>
              </a:ext>
            </a:extLst>
          </p:cNvPr>
          <p:cNvSpPr txBox="1"/>
          <p:nvPr/>
        </p:nvSpPr>
        <p:spPr>
          <a:xfrm>
            <a:off x="7872550" y="534339"/>
            <a:ext cx="584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F9F55F-A159-EC51-CC33-4A7D6E6524CE}"/>
              </a:ext>
            </a:extLst>
          </p:cNvPr>
          <p:cNvSpPr txBox="1"/>
          <p:nvPr/>
        </p:nvSpPr>
        <p:spPr>
          <a:xfrm>
            <a:off x="2146664" y="1480614"/>
            <a:ext cx="1510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Balance Only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D1908E-F7AA-7B97-578A-AB70A08870F0}"/>
              </a:ext>
            </a:extLst>
          </p:cNvPr>
          <p:cNvSpPr txBox="1"/>
          <p:nvPr/>
        </p:nvSpPr>
        <p:spPr>
          <a:xfrm>
            <a:off x="2146664" y="2226207"/>
            <a:ext cx="245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Balance + Student</a:t>
            </a:r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B19B692-05D3-1611-C5EE-998487450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037" y="1480614"/>
            <a:ext cx="4019101" cy="149118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29070AB-E187-5865-4BE3-AD1BFB3EE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888" y="580307"/>
            <a:ext cx="4099502" cy="1671864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B894E77-780B-EF90-B42E-DD6145CA6AE8}"/>
              </a:ext>
            </a:extLst>
          </p:cNvPr>
          <p:cNvSpPr txBox="1">
            <a:spLocks/>
          </p:cNvSpPr>
          <p:nvPr/>
        </p:nvSpPr>
        <p:spPr>
          <a:xfrm>
            <a:off x="418250" y="534339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Predictive Ability</a:t>
            </a:r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r>
              <a:rPr lang="en-US" sz="2200" b="1" dirty="0"/>
              <a:t>Don’t compare CM vs CM. </a:t>
            </a:r>
          </a:p>
          <a:p>
            <a:r>
              <a:rPr lang="en-US" sz="2200" b="1" dirty="0"/>
              <a:t>They depend on threshold</a:t>
            </a:r>
          </a:p>
          <a:p>
            <a:r>
              <a:rPr lang="en-US" sz="2200" b="1" dirty="0"/>
              <a:t>If you compare CM vs CM, then make sure they are both using the threshold optimized by the same cost function (TP, TN, FP, FN)</a:t>
            </a:r>
          </a:p>
        </p:txBody>
      </p:sp>
    </p:spTree>
    <p:extLst>
      <p:ext uri="{BB962C8B-B14F-4D97-AF65-F5344CB8AC3E}">
        <p14:creationId xmlns:p14="http://schemas.microsoft.com/office/powerpoint/2010/main" val="654446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9C0B9-CE70-A89D-E915-669BDA011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6738361-3AD7-A4DB-7B73-41B8AFC9A910}"/>
              </a:ext>
            </a:extLst>
          </p:cNvPr>
          <p:cNvSpPr txBox="1">
            <a:spLocks/>
          </p:cNvSpPr>
          <p:nvPr/>
        </p:nvSpPr>
        <p:spPr>
          <a:xfrm>
            <a:off x="788364" y="274175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5038E4-A999-121F-01E1-F1E706C25481}"/>
              </a:ext>
            </a:extLst>
          </p:cNvPr>
          <p:cNvSpPr txBox="1"/>
          <p:nvPr/>
        </p:nvSpPr>
        <p:spPr>
          <a:xfrm>
            <a:off x="4604037" y="556032"/>
            <a:ext cx="952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90F8F7-0113-18D0-8807-EBC16ABBF429}"/>
              </a:ext>
            </a:extLst>
          </p:cNvPr>
          <p:cNvSpPr txBox="1"/>
          <p:nvPr/>
        </p:nvSpPr>
        <p:spPr>
          <a:xfrm>
            <a:off x="7872550" y="534339"/>
            <a:ext cx="584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FFD50-9D8A-0220-396A-C609F9777EA0}"/>
              </a:ext>
            </a:extLst>
          </p:cNvPr>
          <p:cNvSpPr txBox="1"/>
          <p:nvPr/>
        </p:nvSpPr>
        <p:spPr>
          <a:xfrm>
            <a:off x="2146664" y="1480614"/>
            <a:ext cx="1510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Balance Only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989FA4-48C6-2E11-5FAB-FF97B7E41ABA}"/>
              </a:ext>
            </a:extLst>
          </p:cNvPr>
          <p:cNvSpPr txBox="1"/>
          <p:nvPr/>
        </p:nvSpPr>
        <p:spPr>
          <a:xfrm>
            <a:off x="2146664" y="2226207"/>
            <a:ext cx="245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Balance + Student</a:t>
            </a:r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E43B6B-C3AE-4047-FF1A-07E1DAE68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037" y="1480614"/>
            <a:ext cx="4019101" cy="149118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740DF95-6A88-A3BC-88FA-694DC76EA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888" y="580307"/>
            <a:ext cx="4099502" cy="1671864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5A51FB-2084-3933-46A1-58B1F3B8E9C4}"/>
              </a:ext>
            </a:extLst>
          </p:cNvPr>
          <p:cNvSpPr txBox="1">
            <a:spLocks/>
          </p:cNvSpPr>
          <p:nvPr/>
        </p:nvSpPr>
        <p:spPr>
          <a:xfrm>
            <a:off x="418250" y="534339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Is it really better? </a:t>
            </a:r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r>
              <a:rPr lang="en-US" b="1" dirty="0"/>
              <a:t>Is this improvement in test AUC significant? </a:t>
            </a:r>
          </a:p>
          <a:p>
            <a:pPr marL="0" indent="0">
              <a:buNone/>
            </a:pP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668405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6F2CF-0C64-D5D2-0272-4585FD128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546DA22-E507-6FEB-DA88-AC96113CFEE3}"/>
              </a:ext>
            </a:extLst>
          </p:cNvPr>
          <p:cNvSpPr txBox="1">
            <a:spLocks/>
          </p:cNvSpPr>
          <p:nvPr/>
        </p:nvSpPr>
        <p:spPr>
          <a:xfrm>
            <a:off x="418250" y="534339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Try changing the seed </a:t>
            </a:r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  <a:p>
            <a:pPr marL="0" indent="0">
              <a:buNone/>
            </a:pPr>
            <a:endParaRPr lang="en-US" sz="4000" b="1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8566B3B-D9E2-2DA2-3C74-0A4F3C44C3E2}"/>
              </a:ext>
            </a:extLst>
          </p:cNvPr>
          <p:cNvSpPr txBox="1">
            <a:spLocks/>
          </p:cNvSpPr>
          <p:nvPr/>
        </p:nvSpPr>
        <p:spPr>
          <a:xfrm>
            <a:off x="788364" y="274175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6A077B-181F-7567-ED47-42C51108778F}"/>
              </a:ext>
            </a:extLst>
          </p:cNvPr>
          <p:cNvSpPr txBox="1"/>
          <p:nvPr/>
        </p:nvSpPr>
        <p:spPr>
          <a:xfrm>
            <a:off x="2018757" y="4796999"/>
            <a:ext cx="1510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Balance Only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177EE4-AE34-FF8D-E281-1CFAACEABDE4}"/>
              </a:ext>
            </a:extLst>
          </p:cNvPr>
          <p:cNvSpPr txBox="1"/>
          <p:nvPr/>
        </p:nvSpPr>
        <p:spPr>
          <a:xfrm>
            <a:off x="1789100" y="5777191"/>
            <a:ext cx="2457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Balance + Student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A294F1-D9FF-D175-1F74-90943F8F0A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765" y="1080809"/>
            <a:ext cx="7772400" cy="17917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8D4604-64D8-5965-754F-677EA434A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693" y="2872538"/>
            <a:ext cx="5524500" cy="876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7475FF-2745-284A-6437-AB8BAED4C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1265" y="4905916"/>
            <a:ext cx="4076700" cy="1485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E11F06-55AA-3A3F-4DC9-5D12F39618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408" y="4066749"/>
            <a:ext cx="3949700" cy="14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603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75C3B-11BA-434C-4B6A-5329ADD67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1016ADD-A7CD-6FB0-44EB-0BE0F3A9FBCC}"/>
              </a:ext>
            </a:extLst>
          </p:cNvPr>
          <p:cNvSpPr txBox="1">
            <a:spLocks/>
          </p:cNvSpPr>
          <p:nvPr/>
        </p:nvSpPr>
        <p:spPr>
          <a:xfrm>
            <a:off x="788364" y="274175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(+) Heads up on Assignment 4 w Heart data</a:t>
            </a:r>
          </a:p>
          <a:p>
            <a:r>
              <a:rPr lang="en-US" sz="2000" dirty="0"/>
              <a:t>Ch4-LabA3</a:t>
            </a:r>
          </a:p>
          <a:p>
            <a:r>
              <a:rPr lang="en-US" sz="2000" dirty="0"/>
              <a:t>Ch4-LabA4</a:t>
            </a:r>
          </a:p>
          <a:p>
            <a:r>
              <a:rPr lang="en-US" sz="2000" dirty="0"/>
              <a:t>You need class change for couple of columns. </a:t>
            </a:r>
          </a:p>
        </p:txBody>
      </p:sp>
    </p:spTree>
    <p:extLst>
      <p:ext uri="{BB962C8B-B14F-4D97-AF65-F5344CB8AC3E}">
        <p14:creationId xmlns:p14="http://schemas.microsoft.com/office/powerpoint/2010/main" val="1324635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A97D8-51D6-3210-C92F-0D19BCAF1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9C16B2C-FC60-C905-50E7-AD9F4C00849F}"/>
              </a:ext>
            </a:extLst>
          </p:cNvPr>
          <p:cNvSpPr txBox="1">
            <a:spLocks/>
          </p:cNvSpPr>
          <p:nvPr/>
        </p:nvSpPr>
        <p:spPr>
          <a:xfrm>
            <a:off x="788364" y="274175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(+) Usage of AI</a:t>
            </a:r>
          </a:p>
          <a:p>
            <a:r>
              <a:rPr lang="en-US" sz="2000" dirty="0"/>
              <a:t>Red light, Yellow light, Green light courses. </a:t>
            </a:r>
          </a:p>
          <a:p>
            <a:r>
              <a:rPr lang="en-US" sz="2000" dirty="0"/>
              <a:t>I want this course to be </a:t>
            </a:r>
            <a:r>
              <a:rPr lang="en-US" sz="2000" b="1" dirty="0"/>
              <a:t>Blue Light </a:t>
            </a:r>
            <a:r>
              <a:rPr lang="en-US" sz="2000" dirty="0"/>
              <a:t>– you should go above AI’s answer (where appropriate).</a:t>
            </a:r>
          </a:p>
          <a:p>
            <a:r>
              <a:rPr lang="en-US" sz="2000" dirty="0"/>
              <a:t>Next is an example of that. </a:t>
            </a:r>
          </a:p>
        </p:txBody>
      </p:sp>
    </p:spTree>
    <p:extLst>
      <p:ext uri="{BB962C8B-B14F-4D97-AF65-F5344CB8AC3E}">
        <p14:creationId xmlns:p14="http://schemas.microsoft.com/office/powerpoint/2010/main" val="1811448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0D950-BA96-C0E0-3423-4A4F34528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0A297F-38C8-BBA2-3836-449B641A40FD}"/>
              </a:ext>
            </a:extLst>
          </p:cNvPr>
          <p:cNvSpPr txBox="1">
            <a:spLocks/>
          </p:cNvSpPr>
          <p:nvPr/>
        </p:nvSpPr>
        <p:spPr>
          <a:xfrm>
            <a:off x="788364" y="274175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(+) Imbalanced data and SMOTE</a:t>
            </a:r>
          </a:p>
          <a:p>
            <a:r>
              <a:rPr lang="en-US" sz="1800" dirty="0"/>
              <a:t>Often times data for classification task is imbalanced.</a:t>
            </a:r>
          </a:p>
          <a:p>
            <a:r>
              <a:rPr lang="en-US" sz="1800" b="1" dirty="0"/>
              <a:t>SMOTE (Synthetic Minority Over-sampling Technique)</a:t>
            </a:r>
            <a:r>
              <a:rPr lang="en-US" sz="1800" dirty="0"/>
              <a:t> is a highly popular data augmentation algorithm used to resolve class imbalance in machine learning datasets. 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BADFC8-C0C8-E9E6-623C-37B9FDD52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236" y="3575049"/>
            <a:ext cx="7400086" cy="29028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98DE42-872C-879D-071A-0A3500ED6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197" y="1959048"/>
            <a:ext cx="2428618" cy="161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674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64D62-2277-1CE5-C874-275FE2E40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2869F30-70A4-2894-B01F-14686E63960B}"/>
              </a:ext>
            </a:extLst>
          </p:cNvPr>
          <p:cNvSpPr txBox="1">
            <a:spLocks/>
          </p:cNvSpPr>
          <p:nvPr/>
        </p:nvSpPr>
        <p:spPr>
          <a:xfrm>
            <a:off x="788364" y="274175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Kaggle Credit Card fraud data</a:t>
            </a:r>
          </a:p>
          <a:p>
            <a:r>
              <a:rPr lang="en-US" sz="2000" dirty="0"/>
              <a:t>[Kaggle page](</a:t>
            </a:r>
            <a:r>
              <a:rPr lang="en-US" sz="2000" dirty="0">
                <a:hlinkClick r:id="rId2"/>
              </a:rPr>
              <a:t>https://www.kaggle.com/datasets/mlg-ulb/creditcardfraud</a:t>
            </a:r>
            <a:r>
              <a:rPr lang="en-US" sz="2000" dirty="0"/>
              <a:t>)</a:t>
            </a:r>
          </a:p>
          <a:p>
            <a:r>
              <a:rPr lang="en-US" sz="2000" dirty="0"/>
              <a:t>SMOTE + Logistic Regression on the Kaggle "Credit Card Fraud Detection” dataset</a:t>
            </a:r>
          </a:p>
          <a:p>
            <a:r>
              <a:rPr lang="en-US" sz="2000" dirty="0"/>
              <a:t>Anonymized European cardholder transactions, Sep 2013, ULB Machine Learning Group.</a:t>
            </a:r>
          </a:p>
          <a:p>
            <a:r>
              <a:rPr lang="en-US" sz="2000" dirty="0"/>
              <a:t>284,807 transactions, 492 frauds (0.173%)</a:t>
            </a:r>
          </a:p>
          <a:p>
            <a:r>
              <a:rPr lang="en-US" sz="2000" dirty="0"/>
              <a:t>30 predictors already rotated using PCA (Principal Component Analysis).</a:t>
            </a:r>
          </a:p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F6FAB2-BB1D-2C82-736B-3BAC6E71B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57" y="3626130"/>
            <a:ext cx="7772400" cy="223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7741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FF1FB-7922-B42C-0B84-A2781220E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4BB3B1F-7D2F-9476-7BC2-BBF8E8EC5228}"/>
              </a:ext>
            </a:extLst>
          </p:cNvPr>
          <p:cNvSpPr txBox="1">
            <a:spLocks/>
          </p:cNvSpPr>
          <p:nvPr/>
        </p:nvSpPr>
        <p:spPr>
          <a:xfrm>
            <a:off x="788364" y="274175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SMOTE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623886-7454-4D40-E1FB-ECE349BC6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100" y="274175"/>
            <a:ext cx="6412536" cy="27939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C496A0-7853-8796-C381-A6F57E5D8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778" y="3182815"/>
            <a:ext cx="6812858" cy="29149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8565D3-BC3C-A155-DD4D-7B18036718AD}"/>
              </a:ext>
            </a:extLst>
          </p:cNvPr>
          <p:cNvSpPr txBox="1"/>
          <p:nvPr/>
        </p:nvSpPr>
        <p:spPr>
          <a:xfrm>
            <a:off x="586154" y="1372440"/>
            <a:ext cx="40046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SMOTE only oversamples within training set.  Test set is left alone. </a:t>
            </a:r>
          </a:p>
        </p:txBody>
      </p:sp>
    </p:spTree>
    <p:extLst>
      <p:ext uri="{BB962C8B-B14F-4D97-AF65-F5344CB8AC3E}">
        <p14:creationId xmlns:p14="http://schemas.microsoft.com/office/powerpoint/2010/main" val="1144947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61326-BC7B-3234-35A7-EDF219825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8593B5-BB81-110A-AF42-F1C1144E090D}"/>
              </a:ext>
            </a:extLst>
          </p:cNvPr>
          <p:cNvSpPr txBox="1">
            <a:spLocks/>
          </p:cNvSpPr>
          <p:nvPr/>
        </p:nvSpPr>
        <p:spPr>
          <a:xfrm>
            <a:off x="788364" y="274175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Ask </a:t>
            </a:r>
            <a:r>
              <a:rPr lang="en-US" sz="4000" b="1" dirty="0" err="1"/>
              <a:t>claude</a:t>
            </a:r>
            <a:r>
              <a:rPr lang="en-US" sz="4000" b="1" dirty="0"/>
              <a:t>:</a:t>
            </a:r>
          </a:p>
          <a:p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543ADB-359E-A8AB-5130-BE1D98419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007" y="274175"/>
            <a:ext cx="7772400" cy="19187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05DD7B-319A-4561-1A42-3B413A98E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007" y="2391508"/>
            <a:ext cx="7772400" cy="431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0541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91F7F-EDC9-E2A5-BEF0-CAE2B9FF0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5755803-142D-03B3-FAB3-1752A545DCD1}"/>
              </a:ext>
            </a:extLst>
          </p:cNvPr>
          <p:cNvSpPr txBox="1">
            <a:spLocks/>
          </p:cNvSpPr>
          <p:nvPr/>
        </p:nvSpPr>
        <p:spPr>
          <a:xfrm>
            <a:off x="788364" y="274175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Precision, recall, F1 score:</a:t>
            </a:r>
          </a:p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1ADEB2-5345-F644-4EB2-E1609817A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536" y="1006022"/>
            <a:ext cx="4838700" cy="2070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9BED3A-DB86-5E2D-7D10-7F2F6C1DD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36" y="3144178"/>
            <a:ext cx="7772400" cy="11238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188A95-73A3-4A10-47D1-9A1C4CAAD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5472680"/>
            <a:ext cx="7772400" cy="12002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7E72D2F-3315-D23A-65D6-12D4F8744D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8986" y="4387868"/>
            <a:ext cx="7772400" cy="87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4976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EAE39-DE46-7632-F745-9E7C2A2F9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2289370-29B4-FFD2-C3C2-B5B33EB7FC9C}"/>
              </a:ext>
            </a:extLst>
          </p:cNvPr>
          <p:cNvSpPr txBox="1">
            <a:spLocks/>
          </p:cNvSpPr>
          <p:nvPr/>
        </p:nvSpPr>
        <p:spPr>
          <a:xfrm>
            <a:off x="788364" y="274175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Run the code:</a:t>
            </a:r>
          </a:p>
          <a:p>
            <a:r>
              <a:rPr lang="en-US" sz="2000" dirty="0"/>
              <a:t>See Ch4-LabA5. </a:t>
            </a:r>
          </a:p>
          <a:p>
            <a:r>
              <a:rPr lang="en-US" sz="2000" dirty="0"/>
              <a:t>1. Load Data</a:t>
            </a:r>
          </a:p>
          <a:p>
            <a:r>
              <a:rPr lang="en-US" sz="2000" dirty="0"/>
              <a:t>2. Separate Data</a:t>
            </a:r>
          </a:p>
          <a:p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810990-A6DB-188C-B29C-894C2B8C6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465" y="495299"/>
            <a:ext cx="7607300" cy="2933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4652E8-D66A-7B32-49D3-CAA36E14B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465" y="3808764"/>
            <a:ext cx="4026806" cy="286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863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C960-2B67-4A3B-41AB-46F33FED7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A0B47E-7564-DBAC-467F-133C9EB11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78" y="355818"/>
            <a:ext cx="7772400" cy="16717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901377-96FA-5DC6-8295-33F9C81F8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78" y="2171700"/>
            <a:ext cx="3771900" cy="1257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41EC8B-1327-48C2-4F70-7EB5900C1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222" y="2171700"/>
            <a:ext cx="5422900" cy="4127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79E848D-E2CC-8A9F-26E4-2FF20B1EE6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175388"/>
            <a:ext cx="4644574" cy="7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4445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62471-1E7B-B000-B460-095EAF7CF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FBB538-9366-9A6F-4EBB-38504E32D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50" y="574335"/>
            <a:ext cx="7772400" cy="12021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18A501-5057-926C-210C-885274AB8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065" y="1776441"/>
            <a:ext cx="7772400" cy="29282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5A30462-8C0C-C107-FFE8-A21D12C45F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50" y="3240590"/>
            <a:ext cx="4026806" cy="28682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73AE7A-B993-13A0-77A0-157E17E048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527" y="2202766"/>
            <a:ext cx="3944623" cy="247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8636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982BD-DA2F-B438-AFB4-F0D5A213B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0F2A6A-CE30-141E-5987-D4B497FEB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24" y="2109872"/>
            <a:ext cx="4152192" cy="33156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66617F-0021-7C9D-5FA9-16799664F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59" y="336318"/>
            <a:ext cx="7772400" cy="17156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7867D6-9715-6A11-B014-A39EBE58F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767" y="898461"/>
            <a:ext cx="4644574" cy="7959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0EC01A-1AB5-5314-EF09-64DD672E28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6839" y="5676296"/>
            <a:ext cx="3545112" cy="11817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9AAB34-6E7B-51D1-7B52-E9FBBE3F50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2218" y="5763382"/>
            <a:ext cx="3283855" cy="10946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47D2D81-33EE-6B56-2214-39FF83C16E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0694" y="2109872"/>
            <a:ext cx="4356230" cy="33156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DF9C1E-114D-0CB0-54A7-7B68C317C5E8}"/>
              </a:ext>
            </a:extLst>
          </p:cNvPr>
          <p:cNvSpPr txBox="1"/>
          <p:nvPr/>
        </p:nvSpPr>
        <p:spPr>
          <a:xfrm>
            <a:off x="4963886" y="5425504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00C3DB-B1EB-2D54-25BD-0B889F656957}"/>
              </a:ext>
            </a:extLst>
          </p:cNvPr>
          <p:cNvSpPr txBox="1"/>
          <p:nvPr/>
        </p:nvSpPr>
        <p:spPr>
          <a:xfrm>
            <a:off x="9583054" y="5425504"/>
            <a:ext cx="898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SMOTE</a:t>
            </a:r>
          </a:p>
        </p:txBody>
      </p:sp>
    </p:spTree>
    <p:extLst>
      <p:ext uri="{BB962C8B-B14F-4D97-AF65-F5344CB8AC3E}">
        <p14:creationId xmlns:p14="http://schemas.microsoft.com/office/powerpoint/2010/main" val="28830521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7A970-8F3F-E1EA-3362-38E63B23B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677993B-4D79-AD19-A342-637616655DA3}"/>
              </a:ext>
            </a:extLst>
          </p:cNvPr>
          <p:cNvSpPr txBox="1">
            <a:spLocks/>
          </p:cNvSpPr>
          <p:nvPr/>
        </p:nvSpPr>
        <p:spPr>
          <a:xfrm>
            <a:off x="788364" y="274175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Did we really need SMOTE for that?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6EE226-77DF-866E-7C42-6E1E1CDF5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78" y="1207407"/>
            <a:ext cx="6515100" cy="1079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E5FD69-1596-692B-9A5E-038F5D0F4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64" y="2654084"/>
            <a:ext cx="4522107" cy="35625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B267CD-E915-C272-48FA-76EFD72D1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7067" y="2777549"/>
            <a:ext cx="4152192" cy="331563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A30C7F-7FAF-C5D6-D926-6FE08D68A0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7067" y="1349194"/>
            <a:ext cx="4644574" cy="7959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BB6272-CBDE-2B5B-DA97-EAE62A94FE46}"/>
              </a:ext>
            </a:extLst>
          </p:cNvPr>
          <p:cNvSpPr txBox="1"/>
          <p:nvPr/>
        </p:nvSpPr>
        <p:spPr>
          <a:xfrm>
            <a:off x="9000288" y="6153836"/>
            <a:ext cx="898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SMOTE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AFD298-66B4-1169-E324-8F33FBA5179D}"/>
              </a:ext>
            </a:extLst>
          </p:cNvPr>
          <p:cNvSpPr txBox="1"/>
          <p:nvPr/>
        </p:nvSpPr>
        <p:spPr>
          <a:xfrm>
            <a:off x="2510116" y="6275147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</a:t>
            </a:r>
          </a:p>
        </p:txBody>
      </p:sp>
    </p:spTree>
    <p:extLst>
      <p:ext uri="{BB962C8B-B14F-4D97-AF65-F5344CB8AC3E}">
        <p14:creationId xmlns:p14="http://schemas.microsoft.com/office/powerpoint/2010/main" val="12219583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F61B7-B3B0-5A19-EF1B-A9EE44EA9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72BB0F-6D83-9B06-87A2-E1EE69FE19AF}"/>
              </a:ext>
            </a:extLst>
          </p:cNvPr>
          <p:cNvSpPr txBox="1">
            <a:spLocks/>
          </p:cNvSpPr>
          <p:nvPr/>
        </p:nvSpPr>
        <p:spPr>
          <a:xfrm>
            <a:off x="788364" y="274175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Did we really need SMOTE for that?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2FA163-22DE-2B3A-3904-859EDBE4D161}"/>
              </a:ext>
            </a:extLst>
          </p:cNvPr>
          <p:cNvSpPr txBox="1"/>
          <p:nvPr/>
        </p:nvSpPr>
        <p:spPr>
          <a:xfrm>
            <a:off x="6768819" y="3619379"/>
            <a:ext cx="898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SMOTE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23DF97-8016-EE14-E836-FA8EA8FCD375}"/>
              </a:ext>
            </a:extLst>
          </p:cNvPr>
          <p:cNvSpPr txBox="1"/>
          <p:nvPr/>
        </p:nvSpPr>
        <p:spPr>
          <a:xfrm>
            <a:off x="2981159" y="361937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A59CF5-D9EE-B4EC-FD45-8ED34349E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207" y="1132513"/>
            <a:ext cx="7772400" cy="14280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712F60-78D7-7976-FFCD-D86FCA59B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652" y="2473526"/>
            <a:ext cx="3545112" cy="11817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F1A1DA-A740-180E-AB2C-CC82FC05B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0031" y="2560612"/>
            <a:ext cx="3283855" cy="10946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B169598-0980-B0DD-4851-A87611D5C3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207" y="4010663"/>
            <a:ext cx="5575300" cy="7493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CBB3D80-52E5-70E2-C09C-966E24084C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0031" y="4975023"/>
            <a:ext cx="3631619" cy="12178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7C4F92B-899B-06E2-299E-D8D4BE0FCB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4652" y="4976387"/>
            <a:ext cx="3519993" cy="1266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5254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B7C39-DB36-A9BE-0826-82B3B67E1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D9C189-32B2-D4C6-59FD-D7CCD86DF300}"/>
              </a:ext>
            </a:extLst>
          </p:cNvPr>
          <p:cNvSpPr txBox="1">
            <a:spLocks/>
          </p:cNvSpPr>
          <p:nvPr/>
        </p:nvSpPr>
        <p:spPr>
          <a:xfrm>
            <a:off x="788364" y="274175"/>
            <a:ext cx="9984650" cy="6309649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/>
              <a:t>(+) Intro to R markdown</a:t>
            </a:r>
          </a:p>
          <a:p>
            <a:r>
              <a:rPr lang="en-US" sz="2000" dirty="0"/>
              <a:t>One way to keep output of R. </a:t>
            </a:r>
          </a:p>
          <a:p>
            <a:r>
              <a:rPr lang="en-US" sz="2000" dirty="0"/>
              <a:t>Excellent way to archive your work. </a:t>
            </a:r>
          </a:p>
          <a:p>
            <a:r>
              <a:rPr lang="en-US" sz="2000" dirty="0"/>
              <a:t>Not ideal while you are actively working on the dataset.</a:t>
            </a:r>
          </a:p>
          <a:p>
            <a:r>
              <a:rPr lang="en-US" sz="2000" dirty="0"/>
              <a:t>Download some template form the class webpage. </a:t>
            </a:r>
          </a:p>
        </p:txBody>
      </p:sp>
    </p:spTree>
    <p:extLst>
      <p:ext uri="{BB962C8B-B14F-4D97-AF65-F5344CB8AC3E}">
        <p14:creationId xmlns:p14="http://schemas.microsoft.com/office/powerpoint/2010/main" val="16489568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B78D0-44EE-6999-AC14-B5D03AE11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A08ACE7-81DD-6984-0842-0218E4A3EA70}"/>
              </a:ext>
            </a:extLst>
          </p:cNvPr>
          <p:cNvSpPr txBox="1">
            <a:spLocks/>
          </p:cNvSpPr>
          <p:nvPr/>
        </p:nvSpPr>
        <p:spPr>
          <a:xfrm>
            <a:off x="2928489" y="2685444"/>
            <a:ext cx="9087241" cy="1487111"/>
          </a:xfrm>
          <a:prstGeom prst="rect">
            <a:avLst/>
          </a:prstGeom>
          <a:ln w="25400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800" b="1" dirty="0"/>
              <a:t>End of File</a:t>
            </a:r>
          </a:p>
          <a:p>
            <a:pPr marL="0" indent="0">
              <a:buNone/>
            </a:pPr>
            <a:r>
              <a:rPr lang="en-US" sz="2000" dirty="0"/>
              <a:t>Nao Mimoto </a:t>
            </a:r>
            <a:r>
              <a:rPr lang="en-US" sz="2000" dirty="0">
                <a:hlinkClick r:id="rId2"/>
              </a:rPr>
              <a:t>nmimoto@uakron.edu</a:t>
            </a:r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388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15400</TotalTime>
  <Words>546</Words>
  <Application>Microsoft Macintosh PowerPoint</Application>
  <PresentationFormat>Widescreen</PresentationFormat>
  <Paragraphs>133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Office Theme</vt:lpstr>
      <vt:lpstr>Fall26 - Intro to Machine Learning  (W5) Ch4-Lab  Logistic Regression, SMOTE, and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Nao Mimoto</dc:creator>
  <cp:lastModifiedBy>Nao Mimoto</cp:lastModifiedBy>
  <cp:revision>400</cp:revision>
  <cp:lastPrinted>2026-06-16T19:34:10Z</cp:lastPrinted>
  <dcterms:created xsi:type="dcterms:W3CDTF">2025-12-06T21:08:01Z</dcterms:created>
  <dcterms:modified xsi:type="dcterms:W3CDTF">2026-09-23T18:54:34Z</dcterms:modified>
</cp:coreProperties>
</file>